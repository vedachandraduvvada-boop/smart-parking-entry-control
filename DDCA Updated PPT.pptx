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</p:embeddedFont>
    <p:embeddedFont>
      <p:font typeface="Merriweather Bold" panose="00000800000000000000" charset="0"/>
      <p:regular r:id="rId16"/>
    </p:embeddedFont>
    <p:embeddedFont>
      <p:font typeface="Merriweather Light" panose="00000400000000000000" pitchFamily="2" charset="0"/>
      <p:regular r:id="rId17"/>
      <p: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E2914-AF09-5145-B8BD-43EAB92E815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709A5-0CFD-3840-9E5B-C46EC582D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2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50466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Smart Parking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15022" y="2272705"/>
            <a:ext cx="11361652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slot availability and entry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807990"/>
            <a:ext cx="10752067" cy="254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0138" y="3080742"/>
            <a:ext cx="4296660" cy="2426791"/>
          </a:xfrm>
          <a:prstGeom prst="roundRect">
            <a:avLst>
              <a:gd name="adj" fmla="val 5340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3260626"/>
            <a:ext cx="3936902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Team 8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0017" y="3721596"/>
            <a:ext cx="3936902" cy="172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JETHENDRA VARDHAN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2620030600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LAXMI PRAGYA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2620030602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VEDA CHANDRA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2620030606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CHANDRA PAUL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2620030636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SRIKRISHNA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2620030675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02603" y="3260626"/>
            <a:ext cx="6275528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02603" y="3721596"/>
            <a:ext cx="6275528" cy="989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sensor inputs to check slot availability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Boolean logic to control entry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Shows allow or deny status instantly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02603" y="4913610"/>
            <a:ext cx="1292292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11" name="Text 9"/>
          <p:cNvSpPr/>
          <p:nvPr/>
        </p:nvSpPr>
        <p:spPr>
          <a:xfrm>
            <a:off x="5310551" y="4967585"/>
            <a:ext cx="1685982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DDCA 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4785" y="4913610"/>
            <a:ext cx="1391409" cy="27344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2733" y="4967585"/>
            <a:ext cx="178509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DIGITAL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6084" y="4913610"/>
            <a:ext cx="1404902" cy="27344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031" y="4967585"/>
            <a:ext cx="17985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BOOLEAN LOGIC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51954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 &amp; The Digital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9814" y="1289745"/>
            <a:ext cx="520042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1644253"/>
            <a:ext cx="2542615" cy="740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9024" y="1807270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Drivers can’t see free slots before entering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7520" y="1644253"/>
            <a:ext cx="2542715" cy="7405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16731" y="1807270"/>
            <a:ext cx="214049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Cars still try to enter when full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499916"/>
            <a:ext cx="2542615" cy="7405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9024" y="2662932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Manual checks are slow and error-prone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7520" y="2499916"/>
            <a:ext cx="2542715" cy="7405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16731" y="2662932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real-time slot or gate control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719814" y="3370064"/>
            <a:ext cx="520042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Digital Solution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3724573"/>
            <a:ext cx="2542615" cy="7405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9024" y="3887589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Turn slot status into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binary signals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7520" y="3724573"/>
            <a:ext cx="2542715" cy="74056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616731" y="3887589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logic gates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to read inputs in real time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580235"/>
            <a:ext cx="2542615" cy="74056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59024" y="4743252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Detect availability automatically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7520" y="4580235"/>
            <a:ext cx="2542715" cy="74056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616731" y="4743252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Allow entry only when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 AND requested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5435898"/>
            <a:ext cx="2542615" cy="74056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59024" y="5598914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 a live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PARKING_FULL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signal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174129" y="1174651"/>
            <a:ext cx="5407783" cy="5131395"/>
          </a:xfrm>
          <a:prstGeom prst="roundRect">
            <a:avLst>
              <a:gd name="adj" fmla="val 2020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4" name="Text 13"/>
          <p:cNvSpPr/>
          <p:nvPr/>
        </p:nvSpPr>
        <p:spPr>
          <a:xfrm>
            <a:off x="6318092" y="1289745"/>
            <a:ext cx="511985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Sensor Convention — Binary Input Definitions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8092" y="1644253"/>
          <a:ext cx="5119856" cy="2180176"/>
        </p:xfrm>
        <a:graphic>
          <a:graphicData uri="http://schemas.openxmlformats.org/drawingml/2006/table">
            <a:tbl>
              <a:tblPr/>
              <a:tblGrid>
                <a:gridCol w="127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Signal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Name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1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2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3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4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 Request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Yes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14"/>
          <p:cNvSpPr/>
          <p:nvPr/>
        </p:nvSpPr>
        <p:spPr>
          <a:xfrm>
            <a:off x="6318092" y="1996501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15"/>
          <p:cNvSpPr/>
          <p:nvPr/>
        </p:nvSpPr>
        <p:spPr>
          <a:xfrm>
            <a:off x="6318092" y="2360922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16"/>
          <p:cNvSpPr/>
          <p:nvPr/>
        </p:nvSpPr>
        <p:spPr>
          <a:xfrm>
            <a:off x="6318092" y="2725343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17"/>
          <p:cNvSpPr/>
          <p:nvPr/>
        </p:nvSpPr>
        <p:spPr>
          <a:xfrm>
            <a:off x="6318092" y="3089765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0" name="Shape 18"/>
          <p:cNvSpPr/>
          <p:nvPr/>
        </p:nvSpPr>
        <p:spPr>
          <a:xfrm>
            <a:off x="6318092" y="3454186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Shape 19"/>
          <p:cNvSpPr/>
          <p:nvPr/>
        </p:nvSpPr>
        <p:spPr>
          <a:xfrm>
            <a:off x="6318092" y="3966766"/>
            <a:ext cx="5119857" cy="486271"/>
          </a:xfrm>
          <a:prstGeom prst="roundRect">
            <a:avLst>
              <a:gd name="adj" fmla="val 12436"/>
            </a:avLst>
          </a:prstGeom>
          <a:solidFill>
            <a:srgbClr val="003180"/>
          </a:solidFill>
          <a:ln/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055" y="4144169"/>
            <a:ext cx="179879" cy="14396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785897" y="4106267"/>
            <a:ext cx="51176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principle:</a:t>
            </a:r>
            <a:r>
              <a:rPr lang="en-US" sz="11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0 = Free, 1 = Occupied.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0679"/>
            <a:ext cx="10752067" cy="534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Inputs, Binary States &amp; Parking Conditions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19814" y="1450975"/>
            <a:ext cx="5725870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Slot Sensors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19814" y="1900734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113" y="2078038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 — Slot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7113" y="2507555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63958" y="1900734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1257" y="2078038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S2 — Slot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841257" y="2507555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9814" y="3113881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113" y="3291185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S3 — Slot 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97113" y="3720703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63958" y="3113881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1257" y="3291185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S4 — Slot 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841257" y="3720703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9814" y="4347270"/>
            <a:ext cx="5725870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 Request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19814" y="4797028"/>
            <a:ext cx="5725870" cy="1076127"/>
          </a:xfrm>
          <a:prstGeom prst="roundRect">
            <a:avLst>
              <a:gd name="adj" fmla="val 667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13" y="4987032"/>
            <a:ext cx="5345872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 — Entry Request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09813" y="5416550"/>
            <a:ext cx="5345872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Request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No request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46012" y="1288554"/>
            <a:ext cx="4855247" cy="5058767"/>
          </a:xfrm>
          <a:prstGeom prst="roundRect">
            <a:avLst>
              <a:gd name="adj" fmla="val 2535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16961" y="1450975"/>
            <a:ext cx="451334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 Conversion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916961" y="1880493"/>
            <a:ext cx="5122933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each slot signal: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16961" y="2329755"/>
          <a:ext cx="4513348" cy="3462550"/>
        </p:xfrm>
        <a:graphic>
          <a:graphicData uri="http://schemas.openxmlformats.org/drawingml/2006/table">
            <a:tbl>
              <a:tblPr/>
              <a:tblGrid>
                <a:gridCol w="112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3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Signal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Meaning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Sn=0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Sn=1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1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2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3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4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916961" y="2796399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916961" y="3543497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916961" y="4290596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916961" y="5037694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916961" y="5987752"/>
            <a:ext cx="5122933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means the slot is free. The OR gate checks overall availability.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2961"/>
            <a:ext cx="10752067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Gates — Sensors to Entry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814" y="1315938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1 — NOT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9814" y="1684834"/>
            <a:ext cx="5189408" cy="782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 = 1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→ </a:t>
            </a: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 = 0</a:t>
            </a:r>
            <a:endParaRPr lang="en-US" sz="1200" dirty="0"/>
          </a:p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 = 0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→ </a:t>
            </a: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 = 1</a:t>
            </a:r>
            <a:endParaRPr lang="en-US" sz="1200" dirty="0"/>
          </a:p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Same for S2, S3, and S4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9814" y="2597646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2 — 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9814" y="2966541"/>
            <a:ext cx="5798992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Checks if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any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slot is free: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9202" y="3456186"/>
            <a:ext cx="5569604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 = ¬S1 + ¬S2 + ¬S3 + ¬S4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9814" y="3339207"/>
            <a:ext cx="19050" cy="460375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719814" y="3945830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3 — 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814" y="4314726"/>
            <a:ext cx="5798992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 needs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availability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request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9202" y="4804370"/>
            <a:ext cx="4960020" cy="45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ENTRY_ALLOWED = AVAILABLE · E</a:t>
            </a:r>
            <a:endParaRPr lang="en-US" sz="12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= (¬S1 + ¬S2 + ¬S3 + ¬S4) · 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9814" y="4687391"/>
            <a:ext cx="19050" cy="686792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8594" y="1185962"/>
            <a:ext cx="5409866" cy="5158978"/>
          </a:xfrm>
          <a:prstGeom prst="roundRect">
            <a:avLst>
              <a:gd name="adj" fmla="val 2135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31486" y="1315938"/>
            <a:ext cx="5104082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4 — Full Parking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1486" y="1684834"/>
            <a:ext cx="5713666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is full when all slots are occupied: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0874" y="2174478"/>
            <a:ext cx="5484278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PARKING_FULL = ¬AVAILABLE = S1 · S2 · S3 · S4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1486" y="2057499"/>
            <a:ext cx="19050" cy="460375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31486" y="2664123"/>
            <a:ext cx="5104082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Gate Summary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1486" y="3049290"/>
          <a:ext cx="5104080" cy="2453619"/>
        </p:xfrm>
        <a:graphic>
          <a:graphicData uri="http://schemas.openxmlformats.org/drawingml/2006/table">
            <a:tbl>
              <a:tblPr/>
              <a:tblGrid>
                <a:gridCol w="12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2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Gate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Inputs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Output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Use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NOT ×4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S1–S4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¬S1–¬S4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Invert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OR (4-in)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¬S1–¬S4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Find free slot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AND (2-in)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AVAIL, 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ENTRY_ALLOWED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Allow entry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NOT (1-in)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PARKING_FULL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Full alert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31486" y="3437983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331486" y="3839412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331486" y="4240841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331486" y="4868681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31486" y="5661918"/>
            <a:ext cx="5104082" cy="536773"/>
          </a:xfrm>
          <a:prstGeom prst="roundRect">
            <a:avLst>
              <a:gd name="adj" fmla="val 11970"/>
            </a:avLst>
          </a:prstGeom>
          <a:solidFill>
            <a:srgbClr val="00318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78" y="5861348"/>
            <a:ext cx="191190" cy="152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28460" y="5817096"/>
            <a:ext cx="5063800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memory, no clock — just current inputs.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3875"/>
            <a:ext cx="1075206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Gates Connection &amp; Output Flow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010444"/>
            <a:ext cx="3838380" cy="25589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716139"/>
            <a:ext cx="5791154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Circuit Operation — Left to Right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9814" y="3968055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1634" y="3988941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39687" y="4006354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Sensor Inputs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9687" y="4249638"/>
            <a:ext cx="5471281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S1–S4 enter as </a:t>
            </a: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 = Occupied, 0 = Free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19814" y="4532213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634" y="4553099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9687" y="4570512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39687" y="4813796"/>
            <a:ext cx="5471281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each sensor: </a:t>
            </a: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¬S1, ¬S2, ¬S3, ¬S4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9814" y="5102721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34" y="5123607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9687" y="5141020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 Gate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39687" y="5384304"/>
            <a:ext cx="5471281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19814" y="5673229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34" y="5694114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39687" y="5711527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Gate + Full Signal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39687" y="5954812"/>
            <a:ext cx="547128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8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PARKING_FULL = ¬AVAILABLE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09004" y="3647083"/>
            <a:ext cx="4849493" cy="2687042"/>
          </a:xfrm>
          <a:prstGeom prst="roundRect">
            <a:avLst>
              <a:gd name="adj" fmla="val 2988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820424" y="3716139"/>
            <a:ext cx="4626653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Worked Examples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20424" y="3959423"/>
            <a:ext cx="523623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Example 1:</a:t>
            </a: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S3=0, S4=1, E=1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20424" y="4172347"/>
            <a:ext cx="4626653" cy="4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ALLOWED ✓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20424" y="4759424"/>
            <a:ext cx="4626653" cy="127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820424" y="4877594"/>
            <a:ext cx="523623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Example 2:</a:t>
            </a: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S3=1, S4=1, E=1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820424" y="5090517"/>
            <a:ext cx="4626653" cy="65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0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PARKING_FULL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0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DENIED ✗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8076"/>
            <a:ext cx="10752067" cy="39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Simulation &amp; Decision Logic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29031" y="1163935"/>
            <a:ext cx="3744918" cy="5055989"/>
          </a:xfrm>
          <a:prstGeom prst="roundRect">
            <a:avLst>
              <a:gd name="adj" fmla="val 2422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54937" y="125204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Step-by-Step 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4937" y="1547912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4937" y="1749227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7" name="Text 5"/>
          <p:cNvSpPr/>
          <p:nvPr/>
        </p:nvSpPr>
        <p:spPr>
          <a:xfrm>
            <a:off x="754937" y="183753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937" y="2122388"/>
            <a:ext cx="3493107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Get S1, S2, S3, S4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937" y="2476302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4937" y="267761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1" name="Text 9"/>
          <p:cNvSpPr/>
          <p:nvPr/>
        </p:nvSpPr>
        <p:spPr>
          <a:xfrm>
            <a:off x="754937" y="276592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Signals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937" y="3050778"/>
            <a:ext cx="3493107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Make ¬S1, ¬S2, ¬S3, ¬S4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4937" y="340469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937" y="360600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5" name="Text 13"/>
          <p:cNvSpPr/>
          <p:nvPr/>
        </p:nvSpPr>
        <p:spPr>
          <a:xfrm>
            <a:off x="754937" y="369431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 Availability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937" y="397916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4937" y="433943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937" y="454074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9" name="Text 17"/>
          <p:cNvSpPr/>
          <p:nvPr/>
        </p:nvSpPr>
        <p:spPr>
          <a:xfrm>
            <a:off x="754937" y="462905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 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937" y="491390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 input </a:t>
            </a: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937" y="527417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4937" y="547548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4937" y="556379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Decide Entry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937" y="584864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96888" y="1252041"/>
            <a:ext cx="6881243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Simulation Cases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96888" y="1547912"/>
            <a:ext cx="2234946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5493" y="1686520"/>
            <a:ext cx="1957735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A — Spot Free, Entry 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5493" y="2168128"/>
            <a:ext cx="19577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S2=0, S3=1, S4=1, E=1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5493" y="2425105"/>
            <a:ext cx="195773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5493" y="2877939"/>
            <a:ext cx="19577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PERMITTED 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19938" y="1547912"/>
            <a:ext cx="2235045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8543" y="1686520"/>
            <a:ext cx="1957835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B — Parking Full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58543" y="1971377"/>
            <a:ext cx="19578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S3=1, S4=1, E=1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58543" y="2228354"/>
            <a:ext cx="1957835" cy="57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PARKING_FULL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8543" y="2883396"/>
            <a:ext cx="19578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DENIED ✗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43087" y="1547912"/>
            <a:ext cx="2234946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81692" y="1686520"/>
            <a:ext cx="1957735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C — Spot Free, No Entry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81692" y="2168128"/>
            <a:ext cx="19577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S2=0, S3=1, S4=1, E=0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81692" y="2425105"/>
            <a:ext cx="195773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81692" y="2877939"/>
            <a:ext cx="19577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 ENTRY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381692" y="3128566"/>
            <a:ext cx="1957735" cy="137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 must be 1 to allow entry.</a:t>
            </a:r>
            <a:endParaRPr lang="en-US" sz="7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8CBAE7D-CD3F-3BCE-F6B2-3DE4D9F70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409" y="3583511"/>
            <a:ext cx="5146491" cy="2893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20043"/>
            <a:ext cx="10752067" cy="50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Truth Table &amp; Logic Verification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19814" y="1690489"/>
            <a:ext cx="5735792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Simplified Truth Table — Parking Logic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9814" y="2107505"/>
          <a:ext cx="5735790" cy="3425540"/>
        </p:xfrm>
        <a:graphic>
          <a:graphicData uri="http://schemas.openxmlformats.org/drawingml/2006/table">
            <a:tbl>
              <a:tblPr/>
              <a:tblGrid>
                <a:gridCol w="114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3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 Condition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ENTRY_ALLOWED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PARKING_FULL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One slot free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One slot free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609D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 slots 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 slots 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9814" y="5709741"/>
            <a:ext cx="634537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1 only when AVAILABLE=1 and E=1.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740456" y="1544737"/>
            <a:ext cx="4854255" cy="4493121"/>
          </a:xfrm>
          <a:prstGeom prst="roundRect">
            <a:avLst>
              <a:gd name="adj" fmla="val 2596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902377" y="1690489"/>
            <a:ext cx="453041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Checks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327" y="2088455"/>
            <a:ext cx="4549463" cy="683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02397" y="2107505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Free + Request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102397" y="2506365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AVAILABLE=1 and E=1 → ENTRY_ALLOWED=1.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327" y="3025080"/>
            <a:ext cx="4549463" cy="683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02397" y="3044130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Parking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102397" y="3442990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AVAILABLE=0 → ENTRY_ALLOWED=0.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327" y="3961705"/>
            <a:ext cx="4549463" cy="6832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2397" y="3980755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Request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102397" y="4379615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E=0 → no entry.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327" y="4898330"/>
            <a:ext cx="4549463" cy="6832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02397" y="4917380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Memory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7102397" y="5316240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depends only on current inputs.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7538"/>
            <a:ext cx="10752067" cy="36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19814" y="1173163"/>
            <a:ext cx="52333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Summary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68" y="1445121"/>
            <a:ext cx="175414" cy="175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9912" y="14414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 Binary Sensors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99912" y="1700213"/>
            <a:ext cx="485326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S1–S4 show whether each parking slot is occupied or free.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68" y="2010271"/>
            <a:ext cx="175414" cy="175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9912" y="200660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99912" y="2265363"/>
            <a:ext cx="485326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Convert occupied slots into free-slot signals: ¬S1, ¬S2, ¬S3, ¬S4.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68" y="2575421"/>
            <a:ext cx="175414" cy="1754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9912" y="25717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 Gate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099912" y="28305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68" y="3146921"/>
            <a:ext cx="175414" cy="1754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9912" y="31432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Gate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99912" y="34020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68" y="3718421"/>
            <a:ext cx="175414" cy="1754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9912" y="37147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Parking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099912" y="39735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PARKING_FULL = S1·S2·S3·S4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160636" y="1097161"/>
            <a:ext cx="5401830" cy="5143302"/>
          </a:xfrm>
          <a:prstGeom prst="roundRect">
            <a:avLst>
              <a:gd name="adj" fmla="val 1638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277612" y="1173163"/>
            <a:ext cx="516787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Design Features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77612" y="1441450"/>
            <a:ext cx="2545889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938" y="1564779"/>
            <a:ext cx="229923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Verified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00938" y="1823541"/>
            <a:ext cx="229923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Matches the truth table.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899501" y="1441450"/>
            <a:ext cx="2545989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22827" y="1564779"/>
            <a:ext cx="229933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022827" y="1823541"/>
            <a:ext cx="2299337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 more slots by expanding the logic.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277612" y="2177256"/>
            <a:ext cx="5167878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00938" y="2300585"/>
            <a:ext cx="492122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Combinational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938" y="2559348"/>
            <a:ext cx="4921226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clock or memory.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77612" y="2951758"/>
            <a:ext cx="5167878" cy="127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6277612" y="3079155"/>
            <a:ext cx="516787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Flow</a:t>
            </a:r>
            <a:endParaRPr lang="en-US" sz="11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612" y="3347442"/>
            <a:ext cx="584880" cy="70187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8491" y="3464421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BITS</a:t>
            </a:r>
            <a:endParaRPr lang="en-US" sz="11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612" y="4049316"/>
            <a:ext cx="584880" cy="7018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38491" y="4166295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</a:t>
            </a:r>
            <a:endParaRPr lang="en-US" sz="11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612" y="4751189"/>
            <a:ext cx="584880" cy="70187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38491" y="4868168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CIRCUIT</a:t>
            </a:r>
            <a:endParaRPr lang="en-US" sz="11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7612" y="5453063"/>
            <a:ext cx="584880" cy="70187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938491" y="5570041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1007</Words>
  <Application>Microsoft Office PowerPoint</Application>
  <PresentationFormat>Widescreen</PresentationFormat>
  <Paragraphs>255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Consolas</vt:lpstr>
      <vt:lpstr>Arial</vt:lpstr>
      <vt:lpstr>Merriweather Bold</vt:lpstr>
      <vt:lpstr>Merriweather Light</vt:lpstr>
      <vt:lpstr>Merriweather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 1</dc:creator>
  <cp:lastModifiedBy>User 1</cp:lastModifiedBy>
  <cp:revision>3</cp:revision>
  <dcterms:created xsi:type="dcterms:W3CDTF">2026-09-09T08:35:19Z</dcterms:created>
  <dcterms:modified xsi:type="dcterms:W3CDTF">2026-09-10T03:40:22Z</dcterms:modified>
</cp:coreProperties>
</file>